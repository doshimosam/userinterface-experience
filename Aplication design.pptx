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MT Bold Italics" charset="1" panose="02030802070405090303"/>
      <p:regular r:id="rId14"/>
    </p:embeddedFont>
    <p:embeddedFont>
      <p:font typeface="Times New Roman MT" charset="1" panose="02030502070405020303"/>
      <p:regular r:id="rId15"/>
    </p:embeddedFont>
    <p:embeddedFont>
      <p:font typeface="Norwester" charset="1" panose="00000506000000000000"/>
      <p:regular r:id="rId16"/>
    </p:embeddedFont>
    <p:embeddedFont>
      <p:font typeface="Times New Roman MT Italics" charset="1" panose="02030502070405090303"/>
      <p:regular r:id="rId17"/>
    </p:embeddedFont>
    <p:embeddedFont>
      <p:font typeface="Times New Roman MT Bold" charset="1" panose="020308020704050203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A9FF">
                <a:alpha val="100000"/>
              </a:srgbClr>
            </a:gs>
            <a:gs pos="100000">
              <a:srgbClr val="F5F8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911"/>
            <a:ext cx="18480909" cy="10382911"/>
          </a:xfrm>
          <a:custGeom>
            <a:avLst/>
            <a:gdLst/>
            <a:ahLst/>
            <a:cxnLst/>
            <a:rect r="r" b="b" t="t" l="l"/>
            <a:pathLst>
              <a:path h="10382911" w="18480909">
                <a:moveTo>
                  <a:pt x="0" y="0"/>
                </a:moveTo>
                <a:lnTo>
                  <a:pt x="18480909" y="0"/>
                </a:lnTo>
                <a:lnTo>
                  <a:pt x="18480909" y="10382911"/>
                </a:lnTo>
                <a:lnTo>
                  <a:pt x="0" y="10382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94" r="0" b="-9294"/>
            </a:stretch>
          </a:blipFill>
          <a:ln w="1238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557114" y="800107"/>
            <a:ext cx="4388787" cy="438878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613">
                    <a:alpha val="100000"/>
                  </a:srgbClr>
                </a:gs>
                <a:gs pos="50000">
                  <a:srgbClr val="4227A1">
                    <a:alpha val="100000"/>
                  </a:srgbClr>
                </a:gs>
                <a:gs pos="100000">
                  <a:srgbClr val="965BB7">
                    <a:alpha val="100000"/>
                  </a:srgbClr>
                </a:gs>
              </a:gsLst>
              <a:lin ang="5400000"/>
            </a:gradFill>
            <a:ln w="95250" cap="sq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73034" y="1221760"/>
            <a:ext cx="1745673" cy="1905000"/>
          </a:xfrm>
          <a:custGeom>
            <a:avLst/>
            <a:gdLst/>
            <a:ahLst/>
            <a:cxnLst/>
            <a:rect r="r" b="b" t="t" l="l"/>
            <a:pathLst>
              <a:path h="1905000" w="1745673">
                <a:moveTo>
                  <a:pt x="0" y="0"/>
                </a:moveTo>
                <a:lnTo>
                  <a:pt x="1745672" y="0"/>
                </a:lnTo>
                <a:lnTo>
                  <a:pt x="1745672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47622" y="196252"/>
            <a:ext cx="5596496" cy="5596496"/>
          </a:xfrm>
          <a:custGeom>
            <a:avLst/>
            <a:gdLst/>
            <a:ahLst/>
            <a:cxnLst/>
            <a:rect r="r" b="b" t="t" l="l"/>
            <a:pathLst>
              <a:path h="5596496" w="5596496">
                <a:moveTo>
                  <a:pt x="0" y="0"/>
                </a:moveTo>
                <a:lnTo>
                  <a:pt x="5596496" y="0"/>
                </a:lnTo>
                <a:lnTo>
                  <a:pt x="5596496" y="5596496"/>
                </a:lnTo>
                <a:lnTo>
                  <a:pt x="0" y="559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947622" y="7673829"/>
            <a:ext cx="5869897" cy="1176668"/>
            <a:chOff x="0" y="0"/>
            <a:chExt cx="1545981" cy="3099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5981" cy="309904"/>
            </a:xfrm>
            <a:custGeom>
              <a:avLst/>
              <a:gdLst/>
              <a:ahLst/>
              <a:cxnLst/>
              <a:rect r="r" b="b" t="t" l="l"/>
              <a:pathLst>
                <a:path h="309904" w="1545981">
                  <a:moveTo>
                    <a:pt x="1342781" y="0"/>
                  </a:moveTo>
                  <a:cubicBezTo>
                    <a:pt x="1455005" y="0"/>
                    <a:pt x="1545981" y="69374"/>
                    <a:pt x="1545981" y="154952"/>
                  </a:cubicBezTo>
                  <a:cubicBezTo>
                    <a:pt x="1545981" y="240530"/>
                    <a:pt x="1455005" y="309904"/>
                    <a:pt x="1342781" y="309904"/>
                  </a:cubicBezTo>
                  <a:lnTo>
                    <a:pt x="203200" y="309904"/>
                  </a:lnTo>
                  <a:cubicBezTo>
                    <a:pt x="90976" y="309904"/>
                    <a:pt x="0" y="240530"/>
                    <a:pt x="0" y="154952"/>
                  </a:cubicBezTo>
                  <a:cubicBezTo>
                    <a:pt x="0" y="69374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89000"/>
                  </a:srgbClr>
                </a:gs>
                <a:gs pos="100000">
                  <a:srgbClr val="FF66C4">
                    <a:alpha val="89000"/>
                  </a:srgbClr>
                </a:gs>
              </a:gsLst>
              <a:lin ang="0"/>
            </a:gradFill>
            <a:ln w="152400" cap="sq">
              <a:gradFill>
                <a:gsLst>
                  <a:gs pos="0">
                    <a:srgbClr val="FFD8C6">
                      <a:alpha val="89000"/>
                    </a:srgbClr>
                  </a:gs>
                  <a:gs pos="50000">
                    <a:srgbClr val="BC5EFF">
                      <a:alpha val="89000"/>
                    </a:srgbClr>
                  </a:gs>
                  <a:gs pos="100000">
                    <a:srgbClr val="1E0638">
                      <a:alpha val="89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545981" cy="424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69"/>
                </a:lnSpc>
              </a:pPr>
              <a:r>
                <a:rPr lang="en-US" b="true" sz="2978" i="true" spc="536">
                  <a:solidFill>
                    <a:srgbClr val="FFFFFF">
                      <a:alpha val="88627"/>
                    </a:srgbClr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DOWNLOAD NOW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56921" y="5934343"/>
            <a:ext cx="14729883" cy="116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44"/>
              </a:lnSpc>
              <a:spcBef>
                <a:spcPct val="0"/>
              </a:spcBef>
            </a:pPr>
            <a:r>
              <a:rPr lang="en-US" sz="3174">
                <a:solidFill>
                  <a:srgbClr val="E9E0E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a world drowning in information, one app dares to connect the dots, transforming scattered data into a galaxy of personal knowledge.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52885" y="3202960"/>
            <a:ext cx="3385970" cy="41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sz="2380" spc="309">
                <a:solidFill>
                  <a:srgbClr val="11CCF5"/>
                </a:solidFill>
                <a:latin typeface="Norwester"/>
                <a:ea typeface="Norwester"/>
                <a:cs typeface="Norwester"/>
                <a:sym typeface="Norwester"/>
              </a:rPr>
              <a:t>KNOWLEDGE WEB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2405" y="3625535"/>
            <a:ext cx="3498206" cy="16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9"/>
              </a:lnSpc>
            </a:pPr>
            <a:r>
              <a:rPr lang="en-US" sz="2278" i="true" spc="410">
                <a:solidFill>
                  <a:srgbClr val="FFFEFA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Connect your idea and discover patterns</a:t>
            </a:r>
          </a:p>
          <a:p>
            <a:pPr algn="ctr">
              <a:lnSpc>
                <a:spcPts val="3189"/>
              </a:lnSpc>
            </a:pPr>
          </a:p>
        </p:txBody>
      </p:sp>
      <p:sp>
        <p:nvSpPr>
          <p:cNvPr name="AutoShape 14" id="14"/>
          <p:cNvSpPr/>
          <p:nvPr/>
        </p:nvSpPr>
        <p:spPr>
          <a:xfrm>
            <a:off x="17712283" y="618146"/>
            <a:ext cx="0" cy="4248482"/>
          </a:xfrm>
          <a:prstGeom prst="line">
            <a:avLst/>
          </a:prstGeom>
          <a:ln cap="flat" w="76200">
            <a:gradFill>
              <a:gsLst>
                <a:gs pos="0">
                  <a:srgbClr val="84A9FF">
                    <a:alpha val="100000"/>
                  </a:srgbClr>
                </a:gs>
                <a:gs pos="100000">
                  <a:srgbClr val="F5F8FF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3528820" y="580046"/>
            <a:ext cx="4183463" cy="38100"/>
          </a:xfrm>
          <a:prstGeom prst="line">
            <a:avLst/>
          </a:prstGeom>
          <a:ln cap="flat" w="76200">
            <a:gradFill>
              <a:gsLst>
                <a:gs pos="0">
                  <a:srgbClr val="84A9FF">
                    <a:alpha val="100000"/>
                  </a:srgbClr>
                </a:gs>
                <a:gs pos="100000">
                  <a:srgbClr val="F5F8FF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632172" y="9817721"/>
            <a:ext cx="4183463" cy="38100"/>
          </a:xfrm>
          <a:prstGeom prst="line">
            <a:avLst/>
          </a:prstGeom>
          <a:ln cap="flat" w="76200">
            <a:gradFill>
              <a:gsLst>
                <a:gs pos="0">
                  <a:srgbClr val="84A9FF">
                    <a:alpha val="100000"/>
                  </a:srgbClr>
                </a:gs>
                <a:gs pos="100000">
                  <a:srgbClr val="F5F8FF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594072" y="5531141"/>
            <a:ext cx="0" cy="4248482"/>
          </a:xfrm>
          <a:prstGeom prst="line">
            <a:avLst/>
          </a:prstGeom>
          <a:ln cap="flat" w="76200">
            <a:gradFill>
              <a:gsLst>
                <a:gs pos="0">
                  <a:srgbClr val="84A9FF">
                    <a:alpha val="100000"/>
                  </a:srgbClr>
                </a:gs>
                <a:gs pos="100000">
                  <a:srgbClr val="F5F8FF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7881"/>
            <a:ext cx="9914964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The Problem and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8533" y="2198536"/>
            <a:ext cx="17210932" cy="667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351" spc="36" b="true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Problem:</a:t>
            </a:r>
          </a:p>
          <a:p>
            <a:pPr algn="l" marL="723531" indent="-361766" lvl="1">
              <a:lnSpc>
                <a:spcPts val="5428"/>
              </a:lnSpc>
              <a:buFont typeface="Arial"/>
              <a:buChar char="•"/>
            </a:pP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Scattered Information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Our digital notes are fragmented across countless apps.</a:t>
            </a:r>
          </a:p>
          <a:p>
            <a:pPr algn="l" marL="723531" indent="-361766" lvl="1">
              <a:lnSpc>
                <a:spcPts val="5428"/>
              </a:lnSpc>
              <a:buFont typeface="Arial"/>
              <a:buChar char="•"/>
            </a:pP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Lost Connections: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We lose the valuable relationships between our ideas.</a:t>
            </a:r>
          </a:p>
          <a:p>
            <a:pPr algn="l" marL="723531" indent="-361766" lvl="1">
              <a:lnSpc>
                <a:spcPts val="5428"/>
              </a:lnSpc>
              <a:buFont typeface="Arial"/>
              <a:buChar char="•"/>
            </a:pP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Block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ght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This chaos prevents us from seeing the bigger picture.</a:t>
            </a:r>
          </a:p>
          <a:p>
            <a:pPr algn="l">
              <a:lnSpc>
                <a:spcPts val="5428"/>
              </a:lnSpc>
            </a:pPr>
          </a:p>
          <a:p>
            <a:pPr algn="l">
              <a:lnSpc>
                <a:spcPts val="5428"/>
              </a:lnSpc>
            </a:pPr>
            <a:r>
              <a:rPr lang="en-US" sz="3351" spc="36" b="true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</a:t>
            </a:r>
            <a:r>
              <a:rPr lang="en-US" sz="3351" spc="36" b="true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Solution:</a:t>
            </a:r>
          </a:p>
          <a:p>
            <a:pPr algn="l" marL="723531" indent="-361766" lvl="1">
              <a:lnSpc>
                <a:spcPts val="5428"/>
              </a:lnSpc>
              <a:buFont typeface="Arial"/>
              <a:buChar char="•"/>
            </a:pP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Centralize: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Knowledge Web brings all your ideas into a single, visual hub.</a:t>
            </a:r>
          </a:p>
          <a:p>
            <a:pPr algn="l" marL="723531" indent="-361766" lvl="1">
              <a:lnSpc>
                <a:spcPts val="5428"/>
              </a:lnSpc>
              <a:buFont typeface="Arial"/>
              <a:buChar char="•"/>
            </a:pP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Connect:</a:t>
            </a: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relationships between topics, revealing hidden patterns.</a:t>
            </a:r>
          </a:p>
          <a:p>
            <a:pPr algn="l" marL="723531" indent="-361766" lvl="1">
              <a:lnSpc>
                <a:spcPts val="5428"/>
              </a:lnSpc>
              <a:buFont typeface="Arial"/>
              <a:buChar char="•"/>
            </a:pPr>
            <a:r>
              <a:rPr lang="en-US" sz="3351" spc="36" u="sng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Clarify:</a:t>
            </a:r>
            <a:r>
              <a:rPr lang="en-US" sz="3351" spc="36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It transforms clutter into clarity, unlocking new insights.</a:t>
            </a:r>
          </a:p>
          <a:p>
            <a:pPr algn="l" marL="0" indent="0" lvl="0">
              <a:lnSpc>
                <a:spcPts val="3671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5897880" y="9041831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4378" y="2057891"/>
            <a:ext cx="15764969" cy="720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35186" indent="-417593" lvl="1">
              <a:lnSpc>
                <a:spcPts val="7156"/>
              </a:lnSpc>
              <a:buFont typeface="Arial"/>
              <a:buChar char="•"/>
            </a:pPr>
            <a:r>
              <a:rPr lang="en-US" b="true" sz="3868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Occupation:</a:t>
            </a:r>
            <a:r>
              <a:rPr lang="en-US" sz="3868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PhD Candidate, Age 28</a:t>
            </a:r>
          </a:p>
          <a:p>
            <a:pPr algn="just" marL="835186" indent="-417593" lvl="1">
              <a:lnSpc>
                <a:spcPts val="7156"/>
              </a:lnSpc>
              <a:buFont typeface="Arial"/>
              <a:buChar char="•"/>
            </a:pPr>
            <a:r>
              <a:rPr lang="en-US" b="true" sz="3868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Goal:</a:t>
            </a:r>
            <a:r>
              <a:rPr lang="en-US" sz="3868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bring together complex information and discover new connections for his dissertation.</a:t>
            </a:r>
          </a:p>
          <a:p>
            <a:pPr algn="just" marL="835186" indent="-417593" lvl="1">
              <a:lnSpc>
                <a:spcPts val="7156"/>
              </a:lnSpc>
              <a:buFont typeface="Arial"/>
              <a:buChar char="•"/>
            </a:pPr>
            <a:r>
              <a:rPr lang="en-US" b="true" sz="3868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Frustration: </a:t>
            </a:r>
            <a:r>
              <a:rPr lang="en-US" sz="3868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“My notes are all over the place! I can’t see how everything connects.”</a:t>
            </a:r>
          </a:p>
          <a:p>
            <a:pPr algn="just" marL="835186" indent="-417593" lvl="1">
              <a:lnSpc>
                <a:spcPts val="7156"/>
              </a:lnSpc>
              <a:buFont typeface="Arial"/>
              <a:buChar char="•"/>
            </a:pPr>
            <a:r>
              <a:rPr lang="en-US" b="true" sz="3868">
                <a:solidFill>
                  <a:srgbClr val="0F466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Behavior:</a:t>
            </a:r>
            <a:r>
              <a:rPr lang="en-US" sz="3868">
                <a:solidFill>
                  <a:srgbClr val="0F4662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Spends hours researching online and often sketches mind maps on paper to make sense of ideas.</a:t>
            </a:r>
          </a:p>
          <a:p>
            <a:pPr algn="just">
              <a:lnSpc>
                <a:spcPts val="715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6359"/>
            <a:ext cx="8048163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User Persona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9192" y="2717577"/>
            <a:ext cx="3438468" cy="6249042"/>
          </a:xfrm>
          <a:custGeom>
            <a:avLst/>
            <a:gdLst/>
            <a:ahLst/>
            <a:cxnLst/>
            <a:rect r="r" b="b" t="t" l="l"/>
            <a:pathLst>
              <a:path h="6249042" w="3438468">
                <a:moveTo>
                  <a:pt x="0" y="0"/>
                </a:moveTo>
                <a:lnTo>
                  <a:pt x="3438468" y="0"/>
                </a:lnTo>
                <a:lnTo>
                  <a:pt x="3438468" y="6249042"/>
                </a:lnTo>
                <a:lnTo>
                  <a:pt x="0" y="6249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4" t="-22308" r="-10449" b="-175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5067" y="2717577"/>
            <a:ext cx="3414111" cy="6249042"/>
          </a:xfrm>
          <a:custGeom>
            <a:avLst/>
            <a:gdLst/>
            <a:ahLst/>
            <a:cxnLst/>
            <a:rect r="r" b="b" t="t" l="l"/>
            <a:pathLst>
              <a:path h="6249042" w="3414111">
                <a:moveTo>
                  <a:pt x="0" y="0"/>
                </a:moveTo>
                <a:lnTo>
                  <a:pt x="3414111" y="0"/>
                </a:lnTo>
                <a:lnTo>
                  <a:pt x="3414111" y="6249042"/>
                </a:lnTo>
                <a:lnTo>
                  <a:pt x="0" y="6249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50" t="-19295" r="-7688" b="-2008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5582" y="2717577"/>
            <a:ext cx="4022589" cy="6086589"/>
          </a:xfrm>
          <a:custGeom>
            <a:avLst/>
            <a:gdLst/>
            <a:ahLst/>
            <a:cxnLst/>
            <a:rect r="r" b="b" t="t" l="l"/>
            <a:pathLst>
              <a:path h="6086589" w="4022589">
                <a:moveTo>
                  <a:pt x="0" y="0"/>
                </a:moveTo>
                <a:lnTo>
                  <a:pt x="4022589" y="0"/>
                </a:lnTo>
                <a:lnTo>
                  <a:pt x="4022589" y="6086589"/>
                </a:lnTo>
                <a:lnTo>
                  <a:pt x="0" y="608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639" r="-15200" b="-1542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66359"/>
            <a:ext cx="8115300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Paper Prototype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5742" y="2319023"/>
            <a:ext cx="3583989" cy="7460600"/>
          </a:xfrm>
          <a:custGeom>
            <a:avLst/>
            <a:gdLst/>
            <a:ahLst/>
            <a:cxnLst/>
            <a:rect r="r" b="b" t="t" l="l"/>
            <a:pathLst>
              <a:path h="7460600" w="3583989">
                <a:moveTo>
                  <a:pt x="0" y="0"/>
                </a:moveTo>
                <a:lnTo>
                  <a:pt x="3583989" y="0"/>
                </a:lnTo>
                <a:lnTo>
                  <a:pt x="3583989" y="7460600"/>
                </a:lnTo>
                <a:lnTo>
                  <a:pt x="0" y="7460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45" t="0" r="-21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89044" y="2319023"/>
            <a:ext cx="3558178" cy="7460600"/>
          </a:xfrm>
          <a:custGeom>
            <a:avLst/>
            <a:gdLst/>
            <a:ahLst/>
            <a:cxnLst/>
            <a:rect r="r" b="b" t="t" l="l"/>
            <a:pathLst>
              <a:path h="7460600" w="3558178">
                <a:moveTo>
                  <a:pt x="0" y="0"/>
                </a:moveTo>
                <a:lnTo>
                  <a:pt x="3558178" y="0"/>
                </a:lnTo>
                <a:lnTo>
                  <a:pt x="3558178" y="7460600"/>
                </a:lnTo>
                <a:lnTo>
                  <a:pt x="0" y="7460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4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58139" y="2388078"/>
            <a:ext cx="3568759" cy="7425802"/>
          </a:xfrm>
          <a:custGeom>
            <a:avLst/>
            <a:gdLst/>
            <a:ahLst/>
            <a:cxnLst/>
            <a:rect r="r" b="b" t="t" l="l"/>
            <a:pathLst>
              <a:path h="7425802" w="3568759">
                <a:moveTo>
                  <a:pt x="0" y="0"/>
                </a:moveTo>
                <a:lnTo>
                  <a:pt x="3568759" y="0"/>
                </a:lnTo>
                <a:lnTo>
                  <a:pt x="3568759" y="7425802"/>
                </a:lnTo>
                <a:lnTo>
                  <a:pt x="0" y="7425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1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66359"/>
            <a:ext cx="10377135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Wireframes (Low-Fidelity)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1002" y="1684924"/>
            <a:ext cx="3964900" cy="8339156"/>
          </a:xfrm>
          <a:custGeom>
            <a:avLst/>
            <a:gdLst/>
            <a:ahLst/>
            <a:cxnLst/>
            <a:rect r="r" b="b" t="t" l="l"/>
            <a:pathLst>
              <a:path h="8339156" w="3964900">
                <a:moveTo>
                  <a:pt x="0" y="0"/>
                </a:moveTo>
                <a:lnTo>
                  <a:pt x="3964901" y="0"/>
                </a:lnTo>
                <a:lnTo>
                  <a:pt x="3964901" y="8339157"/>
                </a:lnTo>
                <a:lnTo>
                  <a:pt x="0" y="8339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0736" y="1720722"/>
            <a:ext cx="4006921" cy="8303359"/>
          </a:xfrm>
          <a:custGeom>
            <a:avLst/>
            <a:gdLst/>
            <a:ahLst/>
            <a:cxnLst/>
            <a:rect r="r" b="b" t="t" l="l"/>
            <a:pathLst>
              <a:path h="8303359" w="4006921">
                <a:moveTo>
                  <a:pt x="0" y="0"/>
                </a:moveTo>
                <a:lnTo>
                  <a:pt x="4006921" y="0"/>
                </a:lnTo>
                <a:lnTo>
                  <a:pt x="4006921" y="8303359"/>
                </a:lnTo>
                <a:lnTo>
                  <a:pt x="0" y="830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1841" y="1734926"/>
            <a:ext cx="4004083" cy="8289155"/>
          </a:xfrm>
          <a:custGeom>
            <a:avLst/>
            <a:gdLst/>
            <a:ahLst/>
            <a:cxnLst/>
            <a:rect r="r" b="b" t="t" l="l"/>
            <a:pathLst>
              <a:path h="8289155" w="4004083">
                <a:moveTo>
                  <a:pt x="0" y="0"/>
                </a:moveTo>
                <a:lnTo>
                  <a:pt x="4004084" y="0"/>
                </a:lnTo>
                <a:lnTo>
                  <a:pt x="4004084" y="8289155"/>
                </a:lnTo>
                <a:lnTo>
                  <a:pt x="0" y="8289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66359"/>
            <a:ext cx="10094406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Wireframes (high-Fidelity)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2697979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30743" y="8341792"/>
            <a:ext cx="6492240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211467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36864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99853"/>
            <a:ext cx="11847568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 Cognitive Psychology Principles</a:t>
            </a:r>
          </a:p>
        </p:txBody>
      </p:sp>
      <p:graphicFrame>
        <p:nvGraphicFramePr>
          <p:cNvPr name="Object 7" id="7"/>
          <p:cNvGraphicFramePr/>
          <p:nvPr/>
        </p:nvGraphicFramePr>
        <p:xfrm>
          <a:off x="2208596" y="3031386"/>
          <a:ext cx="2514600" cy="1676400"/>
        </p:xfrm>
        <a:graphic>
          <a:graphicData uri="http://schemas.openxmlformats.org/presentationml/2006/ole">
            <p:oleObj imgW="3009900" imgH="2171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8087" y="2617913"/>
            <a:ext cx="11402580" cy="353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303258" y="2894138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709379" y="20636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721696" y="6596246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732802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037751" y="7433926"/>
            <a:ext cx="6972556" cy="194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sz="4700" i="true">
                <a:solidFill>
                  <a:srgbClr val="0F4662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Mosam Doshi</a:t>
            </a:r>
          </a:p>
          <a:p>
            <a:pPr algn="ctr">
              <a:lnSpc>
                <a:spcPts val="4841"/>
              </a:lnSpc>
            </a:pPr>
            <a:r>
              <a:rPr lang="en-US" sz="4700" i="true">
                <a:solidFill>
                  <a:srgbClr val="0F4662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A004</a:t>
            </a:r>
          </a:p>
          <a:p>
            <a:pPr algn="ctr">
              <a:lnSpc>
                <a:spcPts val="4841"/>
              </a:lnSpc>
            </a:pPr>
            <a:r>
              <a:rPr lang="en-US" sz="4700" i="true">
                <a:solidFill>
                  <a:srgbClr val="0F4662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45618230039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DAGyqyyLlGs</dc:identifier>
  <dcterms:modified xsi:type="dcterms:W3CDTF">2011-08-01T06:04:30Z</dcterms:modified>
  <cp:revision>1</cp:revision>
  <dc:title>White Blue Simple Modern Enhancing Sales Strategy Presentation</dc:title>
</cp:coreProperties>
</file>